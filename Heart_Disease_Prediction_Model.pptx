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1625" y="1070403"/>
            <a:ext cx="6000750" cy="1097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FFFFF"/>
                </a:solidFill>
              </a:rPr>
              <a:t>Heart Disease Prediction Model</a:t>
            </a:r>
            <a:endParaRPr lang="en-US" sz="3295" dirty="0"/>
          </a:p>
        </p:txBody>
      </p:sp>
      <p:sp>
        <p:nvSpPr>
          <p:cNvPr id="5" name="Text 2"/>
          <p:cNvSpPr/>
          <p:nvPr/>
        </p:nvSpPr>
        <p:spPr>
          <a:xfrm>
            <a:off x="1547178" y="3311268"/>
            <a:ext cx="604964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dirty="0">
                <a:solidFill>
                  <a:srgbClr val="B3E5FC"/>
                </a:solidFill>
                <a:latin typeface="Algerian" panose="04020705040A02060702" charset="0"/>
                <a:cs typeface="Algerian" panose="04020705040A02060702" charset="0"/>
              </a:rPr>
              <a:t>Framingham Heart Study Dataset | Logistic Regression Analysis</a:t>
            </a:r>
            <a:endParaRPr lang="en-US" sz="1400" dirty="0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017520" y="2167890"/>
            <a:ext cx="3109595" cy="6343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2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NAME-ARITRA HALDER</a:t>
            </a:r>
            <a:endParaRPr lang="en-US" altLang="zh-CN" sz="24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4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314950" y="26581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527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786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5" b="1" dirty="0">
                <a:solidFill>
                  <a:srgbClr val="003D5B"/>
                </a:solidFill>
              </a:rPr>
              <a:t>Key Predictors: Understanding Cardiovascular Risk Factors</a:t>
            </a:r>
            <a:endParaRPr lang="en-US" sz="2015" dirty="0"/>
          </a:p>
        </p:txBody>
      </p:sp>
      <p:sp>
        <p:nvSpPr>
          <p:cNvPr id="4" name="Shape 1"/>
          <p:cNvSpPr/>
          <p:nvPr/>
        </p:nvSpPr>
        <p:spPr>
          <a:xfrm>
            <a:off x="571500" y="1493044"/>
            <a:ext cx="2607469" cy="1085459"/>
          </a:xfrm>
          <a:prstGeom prst="rect">
            <a:avLst/>
          </a:prstGeom>
          <a:solidFill>
            <a:srgbClr val="00A8CC">
              <a:alpha val="3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71500" y="1493044"/>
            <a:ext cx="2607469" cy="21431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6" name="Text 3"/>
          <p:cNvSpPr/>
          <p:nvPr/>
        </p:nvSpPr>
        <p:spPr>
          <a:xfrm>
            <a:off x="750094" y="1671638"/>
            <a:ext cx="225028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Demographics</a:t>
            </a:r>
            <a:endParaRPr lang="en-US" sz="785" dirty="0"/>
          </a:p>
        </p:txBody>
      </p:sp>
      <p:sp>
        <p:nvSpPr>
          <p:cNvPr id="7" name="Text 4"/>
          <p:cNvSpPr/>
          <p:nvPr/>
        </p:nvSpPr>
        <p:spPr>
          <a:xfrm>
            <a:off x="750094" y="1955602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8" name="Text 5"/>
          <p:cNvSpPr/>
          <p:nvPr/>
        </p:nvSpPr>
        <p:spPr>
          <a:xfrm>
            <a:off x="892969" y="1957388"/>
            <a:ext cx="18183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Age</a:t>
            </a:r>
            <a:endParaRPr lang="en-US" sz="725" dirty="0"/>
          </a:p>
        </p:txBody>
      </p:sp>
      <p:sp>
        <p:nvSpPr>
          <p:cNvPr id="9" name="Text 6"/>
          <p:cNvSpPr/>
          <p:nvPr/>
        </p:nvSpPr>
        <p:spPr>
          <a:xfrm>
            <a:off x="750094" y="2167040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10" name="Text 7"/>
          <p:cNvSpPr/>
          <p:nvPr/>
        </p:nvSpPr>
        <p:spPr>
          <a:xfrm>
            <a:off x="892969" y="2168826"/>
            <a:ext cx="85462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Sex (Male/Female)</a:t>
            </a:r>
            <a:endParaRPr lang="en-US" sz="725" dirty="0"/>
          </a:p>
        </p:txBody>
      </p:sp>
      <p:sp>
        <p:nvSpPr>
          <p:cNvPr id="11" name="Shape 8"/>
          <p:cNvSpPr/>
          <p:nvPr/>
        </p:nvSpPr>
        <p:spPr>
          <a:xfrm>
            <a:off x="3393281" y="1493044"/>
            <a:ext cx="2607469" cy="1085459"/>
          </a:xfrm>
          <a:prstGeom prst="rect">
            <a:avLst/>
          </a:prstGeom>
          <a:solidFill>
            <a:srgbClr val="00A8CC">
              <a:alpha val="3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3393281" y="1493044"/>
            <a:ext cx="2607469" cy="21431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13" name="Text 10"/>
          <p:cNvSpPr/>
          <p:nvPr/>
        </p:nvSpPr>
        <p:spPr>
          <a:xfrm>
            <a:off x="3571875" y="1671638"/>
            <a:ext cx="225028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Lifestyle Factors</a:t>
            </a:r>
            <a:endParaRPr lang="en-US" sz="785" dirty="0"/>
          </a:p>
        </p:txBody>
      </p:sp>
      <p:sp>
        <p:nvSpPr>
          <p:cNvPr id="14" name="Text 11"/>
          <p:cNvSpPr/>
          <p:nvPr/>
        </p:nvSpPr>
        <p:spPr>
          <a:xfrm>
            <a:off x="3571875" y="1955602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15" name="Text 12"/>
          <p:cNvSpPr/>
          <p:nvPr/>
        </p:nvSpPr>
        <p:spPr>
          <a:xfrm>
            <a:off x="3714750" y="1957388"/>
            <a:ext cx="1064949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Current Smoker Status</a:t>
            </a:r>
            <a:endParaRPr lang="en-US" sz="725" dirty="0"/>
          </a:p>
        </p:txBody>
      </p:sp>
      <p:sp>
        <p:nvSpPr>
          <p:cNvPr id="16" name="Text 13"/>
          <p:cNvSpPr/>
          <p:nvPr/>
        </p:nvSpPr>
        <p:spPr>
          <a:xfrm>
            <a:off x="3571875" y="2167040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17" name="Text 14"/>
          <p:cNvSpPr/>
          <p:nvPr/>
        </p:nvSpPr>
        <p:spPr>
          <a:xfrm>
            <a:off x="3714750" y="2168826"/>
            <a:ext cx="87022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Cigarettes per Day</a:t>
            </a:r>
            <a:endParaRPr lang="en-US" sz="725" dirty="0"/>
          </a:p>
        </p:txBody>
      </p:sp>
      <p:sp>
        <p:nvSpPr>
          <p:cNvPr id="18" name="Shape 15"/>
          <p:cNvSpPr/>
          <p:nvPr/>
        </p:nvSpPr>
        <p:spPr>
          <a:xfrm>
            <a:off x="571500" y="2771384"/>
            <a:ext cx="2607469" cy="1931212"/>
          </a:xfrm>
          <a:prstGeom prst="rect">
            <a:avLst/>
          </a:prstGeom>
          <a:solidFill>
            <a:srgbClr val="00A8CC">
              <a:alpha val="3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571500" y="2771384"/>
            <a:ext cx="2607469" cy="21431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20" name="Text 17"/>
          <p:cNvSpPr/>
          <p:nvPr/>
        </p:nvSpPr>
        <p:spPr>
          <a:xfrm>
            <a:off x="750094" y="2949978"/>
            <a:ext cx="225028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Cardiovascular Metrics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750094" y="3233942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22" name="Text 19"/>
          <p:cNvSpPr/>
          <p:nvPr/>
        </p:nvSpPr>
        <p:spPr>
          <a:xfrm>
            <a:off x="892969" y="3235728"/>
            <a:ext cx="78690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Total Cholesterol</a:t>
            </a:r>
            <a:endParaRPr lang="en-US" sz="725" dirty="0"/>
          </a:p>
        </p:txBody>
      </p:sp>
      <p:sp>
        <p:nvSpPr>
          <p:cNvPr id="23" name="Text 20"/>
          <p:cNvSpPr/>
          <p:nvPr/>
        </p:nvSpPr>
        <p:spPr>
          <a:xfrm>
            <a:off x="750094" y="3445380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24" name="Text 21"/>
          <p:cNvSpPr/>
          <p:nvPr/>
        </p:nvSpPr>
        <p:spPr>
          <a:xfrm>
            <a:off x="892969" y="3447166"/>
            <a:ext cx="108495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Systolic Blood Pressure</a:t>
            </a:r>
            <a:endParaRPr lang="en-US" sz="725" dirty="0"/>
          </a:p>
        </p:txBody>
      </p:sp>
      <p:sp>
        <p:nvSpPr>
          <p:cNvPr id="25" name="Text 22"/>
          <p:cNvSpPr/>
          <p:nvPr/>
        </p:nvSpPr>
        <p:spPr>
          <a:xfrm>
            <a:off x="750094" y="3656819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26" name="Text 23"/>
          <p:cNvSpPr/>
          <p:nvPr/>
        </p:nvSpPr>
        <p:spPr>
          <a:xfrm>
            <a:off x="892969" y="3658605"/>
            <a:ext cx="1133959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Diastolic Blood Pressure</a:t>
            </a:r>
            <a:endParaRPr lang="en-US" sz="725" dirty="0"/>
          </a:p>
        </p:txBody>
      </p:sp>
      <p:sp>
        <p:nvSpPr>
          <p:cNvPr id="27" name="Text 24"/>
          <p:cNvSpPr/>
          <p:nvPr/>
        </p:nvSpPr>
        <p:spPr>
          <a:xfrm>
            <a:off x="750094" y="3868257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28" name="Text 25"/>
          <p:cNvSpPr/>
          <p:nvPr/>
        </p:nvSpPr>
        <p:spPr>
          <a:xfrm>
            <a:off x="892969" y="3870043"/>
            <a:ext cx="500872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Heart Rate</a:t>
            </a:r>
            <a:endParaRPr lang="en-US" sz="725" dirty="0"/>
          </a:p>
        </p:txBody>
      </p:sp>
      <p:sp>
        <p:nvSpPr>
          <p:cNvPr id="29" name="Shape 26"/>
          <p:cNvSpPr/>
          <p:nvPr/>
        </p:nvSpPr>
        <p:spPr>
          <a:xfrm>
            <a:off x="3393281" y="2771384"/>
            <a:ext cx="2607469" cy="1931212"/>
          </a:xfrm>
          <a:prstGeom prst="rect">
            <a:avLst/>
          </a:prstGeom>
          <a:solidFill>
            <a:srgbClr val="00A8CC">
              <a:alpha val="3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3393281" y="2771384"/>
            <a:ext cx="2607469" cy="21431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31" name="Text 28"/>
          <p:cNvSpPr/>
          <p:nvPr/>
        </p:nvSpPr>
        <p:spPr>
          <a:xfrm>
            <a:off x="3571875" y="2949978"/>
            <a:ext cx="225028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Health Indicators</a:t>
            </a:r>
            <a:endParaRPr lang="en-US" sz="785" dirty="0"/>
          </a:p>
        </p:txBody>
      </p:sp>
      <p:sp>
        <p:nvSpPr>
          <p:cNvPr id="32" name="Text 29"/>
          <p:cNvSpPr/>
          <p:nvPr/>
        </p:nvSpPr>
        <p:spPr>
          <a:xfrm>
            <a:off x="3571875" y="3233942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33" name="Text 30"/>
          <p:cNvSpPr/>
          <p:nvPr/>
        </p:nvSpPr>
        <p:spPr>
          <a:xfrm>
            <a:off x="3714750" y="3235728"/>
            <a:ext cx="107284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Body Mass Index (BMI)</a:t>
            </a:r>
            <a:endParaRPr lang="en-US" sz="725" dirty="0"/>
          </a:p>
        </p:txBody>
      </p:sp>
      <p:sp>
        <p:nvSpPr>
          <p:cNvPr id="34" name="Text 31"/>
          <p:cNvSpPr/>
          <p:nvPr/>
        </p:nvSpPr>
        <p:spPr>
          <a:xfrm>
            <a:off x="3571875" y="3445380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35" name="Text 32"/>
          <p:cNvSpPr/>
          <p:nvPr/>
        </p:nvSpPr>
        <p:spPr>
          <a:xfrm>
            <a:off x="3714750" y="3447166"/>
            <a:ext cx="93842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Blood Glucose Level</a:t>
            </a:r>
            <a:endParaRPr lang="en-US" sz="725" dirty="0"/>
          </a:p>
        </p:txBody>
      </p:sp>
      <p:sp>
        <p:nvSpPr>
          <p:cNvPr id="36" name="Text 33"/>
          <p:cNvSpPr/>
          <p:nvPr/>
        </p:nvSpPr>
        <p:spPr>
          <a:xfrm>
            <a:off x="3571875" y="3656819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37" name="Text 34"/>
          <p:cNvSpPr/>
          <p:nvPr/>
        </p:nvSpPr>
        <p:spPr>
          <a:xfrm>
            <a:off x="3714750" y="3658605"/>
            <a:ext cx="73220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Diabetes Status</a:t>
            </a:r>
            <a:endParaRPr lang="en-US" sz="725" dirty="0"/>
          </a:p>
        </p:txBody>
      </p:sp>
      <p:sp>
        <p:nvSpPr>
          <p:cNvPr id="38" name="Text 35"/>
          <p:cNvSpPr/>
          <p:nvPr/>
        </p:nvSpPr>
        <p:spPr>
          <a:xfrm>
            <a:off x="3571875" y="3868257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39" name="Text 36"/>
          <p:cNvSpPr/>
          <p:nvPr/>
        </p:nvSpPr>
        <p:spPr>
          <a:xfrm>
            <a:off x="3714750" y="3870043"/>
            <a:ext cx="95363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Hypertension Status</a:t>
            </a:r>
            <a:endParaRPr lang="en-US" sz="725" dirty="0"/>
          </a:p>
        </p:txBody>
      </p:sp>
      <p:sp>
        <p:nvSpPr>
          <p:cNvPr id="40" name="Text 37"/>
          <p:cNvSpPr/>
          <p:nvPr/>
        </p:nvSpPr>
        <p:spPr>
          <a:xfrm>
            <a:off x="3571875" y="4079695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41" name="Text 38"/>
          <p:cNvSpPr/>
          <p:nvPr/>
        </p:nvSpPr>
        <p:spPr>
          <a:xfrm>
            <a:off x="3714750" y="4081481"/>
            <a:ext cx="877732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BP Medication Use</a:t>
            </a:r>
            <a:endParaRPr lang="en-US" sz="725" dirty="0"/>
          </a:p>
        </p:txBody>
      </p:sp>
      <p:sp>
        <p:nvSpPr>
          <p:cNvPr id="42" name="Text 39"/>
          <p:cNvSpPr/>
          <p:nvPr/>
        </p:nvSpPr>
        <p:spPr>
          <a:xfrm>
            <a:off x="3571875" y="4291133"/>
            <a:ext cx="50006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▸</a:t>
            </a:r>
            <a:endParaRPr lang="en-US" sz="685" dirty="0"/>
          </a:p>
        </p:txBody>
      </p:sp>
      <p:sp>
        <p:nvSpPr>
          <p:cNvPr id="43" name="Text 40"/>
          <p:cNvSpPr/>
          <p:nvPr/>
        </p:nvSpPr>
        <p:spPr>
          <a:xfrm>
            <a:off x="3714750" y="4292919"/>
            <a:ext cx="76789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Prevalent Stroke</a:t>
            </a:r>
            <a:endParaRPr lang="en-US" sz="725" dirty="0"/>
          </a:p>
        </p:txBody>
      </p:sp>
      <p:sp>
        <p:nvSpPr>
          <p:cNvPr id="44" name="Shape 41"/>
          <p:cNvSpPr/>
          <p:nvPr/>
        </p:nvSpPr>
        <p:spPr>
          <a:xfrm>
            <a:off x="571500" y="4895478"/>
            <a:ext cx="5429250" cy="585788"/>
          </a:xfrm>
          <a:prstGeom prst="rect">
            <a:avLst/>
          </a:prstGeom>
          <a:solidFill>
            <a:srgbClr val="E74C3C">
              <a:alpha val="5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571500" y="4895478"/>
            <a:ext cx="28575" cy="58578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6" name="Text 43"/>
          <p:cNvSpPr/>
          <p:nvPr/>
        </p:nvSpPr>
        <p:spPr>
          <a:xfrm>
            <a:off x="571500" y="4895478"/>
            <a:ext cx="5429250" cy="585788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E74C3C"/>
                </a:solidFill>
              </a:rPr>
              <a:t>Data Processing:</a:t>
            </a:r>
            <a:r>
              <a:rPr lang="en-US" sz="725" dirty="0">
                <a:solidFill>
                  <a:srgbClr val="2C3E50"/>
                </a:solidFill>
              </a:rPr>
              <a:t> After removing incomplete records, 3,656 complete patient records were used for model </a:t>
            </a:r>
            <a:r>
              <a:rPr lang="en-US" sz="725" dirty="0">
                <a:solidFill>
                  <a:srgbClr val="2C3E50"/>
                </a:solidFill>
              </a:rPr>
              <a:t>training and evaluation.</a:t>
            </a:r>
            <a:endParaRPr lang="en-US" sz="685" dirty="0"/>
          </a:p>
        </p:txBody>
      </p:sp>
      <p:sp>
        <p:nvSpPr>
          <p:cNvPr id="47" name="Shape 44"/>
          <p:cNvSpPr/>
          <p:nvPr/>
        </p:nvSpPr>
        <p:spPr>
          <a:xfrm>
            <a:off x="6286500" y="1493044"/>
            <a:ext cx="2286000" cy="1628775"/>
          </a:xfrm>
          <a:prstGeom prst="rect">
            <a:avLst/>
          </a:prstGeom>
          <a:solidFill>
            <a:srgbClr val="00A8CC">
              <a:alpha val="5000"/>
            </a:srgbClr>
          </a:solidFill>
          <a:ln w="18288">
            <a:solidFill>
              <a:srgbClr val="00A8CC">
                <a:alpha val="20000"/>
              </a:srgbClr>
            </a:solidFill>
            <a:prstDash val="solid"/>
          </a:ln>
        </p:spPr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1635919"/>
            <a:ext cx="2000250" cy="1333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7786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5" b="1" dirty="0">
                <a:solidFill>
                  <a:srgbClr val="003D5B"/>
                </a:solidFill>
              </a:rPr>
              <a:t>Model Selection &amp; Training: Logistic Regression Framework</a:t>
            </a:r>
            <a:endParaRPr lang="en-US" sz="2015" dirty="0"/>
          </a:p>
        </p:txBody>
      </p:sp>
      <p:sp>
        <p:nvSpPr>
          <p:cNvPr id="4" name="Shape 1"/>
          <p:cNvSpPr/>
          <p:nvPr/>
        </p:nvSpPr>
        <p:spPr>
          <a:xfrm>
            <a:off x="428625" y="1243013"/>
            <a:ext cx="6072188" cy="1402296"/>
          </a:xfrm>
          <a:prstGeom prst="rect">
            <a:avLst/>
          </a:prstGeom>
          <a:solidFill>
            <a:srgbClr val="00A8CC">
              <a:alpha val="3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28625" y="1243013"/>
            <a:ext cx="28575" cy="1402296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6" name="Text 3"/>
          <p:cNvSpPr/>
          <p:nvPr/>
        </p:nvSpPr>
        <p:spPr>
          <a:xfrm>
            <a:off x="557213" y="1371600"/>
            <a:ext cx="581501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00A8CC"/>
                </a:solidFill>
              </a:rPr>
              <a:t>Why Logistic Regression?</a:t>
            </a:r>
            <a:endParaRPr lang="en-US" sz="735" dirty="0"/>
          </a:p>
        </p:txBody>
      </p:sp>
      <p:sp>
        <p:nvSpPr>
          <p:cNvPr id="7" name="Text 4"/>
          <p:cNvSpPr/>
          <p:nvPr/>
        </p:nvSpPr>
        <p:spPr>
          <a:xfrm>
            <a:off x="557213" y="1610916"/>
            <a:ext cx="96172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003D5B"/>
                </a:solidFill>
              </a:rPr>
              <a:t>Logistic Regression</a:t>
            </a:r>
            <a:endParaRPr lang="en-US" sz="685" dirty="0"/>
          </a:p>
        </p:txBody>
      </p:sp>
      <p:sp>
        <p:nvSpPr>
          <p:cNvPr id="8" name="Text 5"/>
          <p:cNvSpPr/>
          <p:nvPr/>
        </p:nvSpPr>
        <p:spPr>
          <a:xfrm>
            <a:off x="1518940" y="1610916"/>
            <a:ext cx="1490002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is ideal for binary classification:</a:t>
            </a:r>
            <a:endParaRPr lang="en-US" sz="725" dirty="0"/>
          </a:p>
        </p:txBody>
      </p:sp>
      <p:sp>
        <p:nvSpPr>
          <p:cNvPr id="9" name="Text 6"/>
          <p:cNvSpPr/>
          <p:nvPr/>
        </p:nvSpPr>
        <p:spPr>
          <a:xfrm>
            <a:off x="557213" y="1825228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10" name="Text 7"/>
          <p:cNvSpPr/>
          <p:nvPr/>
        </p:nvSpPr>
        <p:spPr>
          <a:xfrm>
            <a:off x="685800" y="1825228"/>
            <a:ext cx="206967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Interpretable probability estimates for CHD risk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57213" y="1998101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12" name="Text 9"/>
          <p:cNvSpPr/>
          <p:nvPr/>
        </p:nvSpPr>
        <p:spPr>
          <a:xfrm>
            <a:off x="685800" y="1998101"/>
            <a:ext cx="1993525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Clear feature importance through coefficients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557213" y="2170974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14" name="Text 11"/>
          <p:cNvSpPr/>
          <p:nvPr/>
        </p:nvSpPr>
        <p:spPr>
          <a:xfrm>
            <a:off x="685800" y="2170974"/>
            <a:ext cx="1727281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Performs well with medical/clinical data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557213" y="2343848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16" name="Text 13"/>
          <p:cNvSpPr/>
          <p:nvPr/>
        </p:nvSpPr>
        <p:spPr>
          <a:xfrm>
            <a:off x="685800" y="2343848"/>
            <a:ext cx="1866667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Produces calibrated probability predictions</a:t>
            </a:r>
            <a:endParaRPr lang="en-US" sz="675" dirty="0"/>
          </a:p>
        </p:txBody>
      </p:sp>
      <p:sp>
        <p:nvSpPr>
          <p:cNvPr id="17" name="Shape 14"/>
          <p:cNvSpPr/>
          <p:nvPr/>
        </p:nvSpPr>
        <p:spPr>
          <a:xfrm>
            <a:off x="428625" y="2773896"/>
            <a:ext cx="6072188" cy="1402296"/>
          </a:xfrm>
          <a:prstGeom prst="rect">
            <a:avLst/>
          </a:prstGeom>
          <a:solidFill>
            <a:srgbClr val="00A8CC">
              <a:alpha val="3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428625" y="2773896"/>
            <a:ext cx="28575" cy="1402296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19" name="Text 16"/>
          <p:cNvSpPr/>
          <p:nvPr/>
        </p:nvSpPr>
        <p:spPr>
          <a:xfrm>
            <a:off x="557213" y="2902483"/>
            <a:ext cx="581501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00A8CC"/>
                </a:solidFill>
              </a:rPr>
              <a:t>Training Methodology</a:t>
            </a:r>
            <a:endParaRPr lang="en-US" sz="735" dirty="0"/>
          </a:p>
        </p:txBody>
      </p:sp>
      <p:sp>
        <p:nvSpPr>
          <p:cNvPr id="20" name="Text 17"/>
          <p:cNvSpPr/>
          <p:nvPr/>
        </p:nvSpPr>
        <p:spPr>
          <a:xfrm>
            <a:off x="557213" y="3141799"/>
            <a:ext cx="216547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Data systematically split for robust evaluation:</a:t>
            </a:r>
            <a:endParaRPr lang="en-US" sz="725" dirty="0"/>
          </a:p>
        </p:txBody>
      </p:sp>
      <p:sp>
        <p:nvSpPr>
          <p:cNvPr id="21" name="Text 18"/>
          <p:cNvSpPr/>
          <p:nvPr/>
        </p:nvSpPr>
        <p:spPr>
          <a:xfrm>
            <a:off x="557213" y="3356111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22" name="Text 19"/>
          <p:cNvSpPr/>
          <p:nvPr/>
        </p:nvSpPr>
        <p:spPr>
          <a:xfrm>
            <a:off x="685800" y="3356111"/>
            <a:ext cx="62354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003D5B"/>
                </a:solidFill>
              </a:rPr>
              <a:t>80% Training:</a:t>
            </a:r>
            <a:endParaRPr lang="en-US" sz="635" dirty="0"/>
          </a:p>
        </p:txBody>
      </p:sp>
      <p:sp>
        <p:nvSpPr>
          <p:cNvPr id="23" name="Text 20"/>
          <p:cNvSpPr/>
          <p:nvPr/>
        </p:nvSpPr>
        <p:spPr>
          <a:xfrm>
            <a:off x="1309343" y="3356111"/>
            <a:ext cx="613414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2,924 records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557213" y="3528985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25" name="Text 22"/>
          <p:cNvSpPr/>
          <p:nvPr/>
        </p:nvSpPr>
        <p:spPr>
          <a:xfrm>
            <a:off x="685800" y="3528985"/>
            <a:ext cx="57727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003D5B"/>
                </a:solidFill>
              </a:rPr>
              <a:t>20% Testing:</a:t>
            </a:r>
            <a:endParaRPr lang="en-US" sz="635" dirty="0"/>
          </a:p>
        </p:txBody>
      </p:sp>
      <p:sp>
        <p:nvSpPr>
          <p:cNvPr id="26" name="Text 23"/>
          <p:cNvSpPr/>
          <p:nvPr/>
        </p:nvSpPr>
        <p:spPr>
          <a:xfrm>
            <a:off x="1263076" y="3528985"/>
            <a:ext cx="535391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732 records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557213" y="3701858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28" name="Text 25"/>
          <p:cNvSpPr/>
          <p:nvPr/>
        </p:nvSpPr>
        <p:spPr>
          <a:xfrm>
            <a:off x="685800" y="3701858"/>
            <a:ext cx="127677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All 15 features used as inputs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57213" y="3874731"/>
            <a:ext cx="46434" cy="1299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▸</a:t>
            </a:r>
            <a:endParaRPr lang="en-US" sz="635" dirty="0"/>
          </a:p>
        </p:txBody>
      </p:sp>
      <p:sp>
        <p:nvSpPr>
          <p:cNvPr id="30" name="Text 27"/>
          <p:cNvSpPr/>
          <p:nvPr/>
        </p:nvSpPr>
        <p:spPr>
          <a:xfrm>
            <a:off x="685800" y="3874731"/>
            <a:ext cx="132321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TenYearCHD as target variable</a:t>
            </a:r>
            <a:endParaRPr lang="en-US" sz="675" dirty="0"/>
          </a:p>
        </p:txBody>
      </p:sp>
      <p:sp>
        <p:nvSpPr>
          <p:cNvPr id="31" name="Shape 28"/>
          <p:cNvSpPr/>
          <p:nvPr/>
        </p:nvSpPr>
        <p:spPr>
          <a:xfrm>
            <a:off x="428625" y="4304779"/>
            <a:ext cx="6072188" cy="474334"/>
          </a:xfrm>
          <a:prstGeom prst="rect">
            <a:avLst/>
          </a:prstGeom>
          <a:solidFill>
            <a:srgbClr val="E74C3C">
              <a:alpha val="5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428625" y="4304779"/>
            <a:ext cx="28575" cy="474334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33" name="Text 30"/>
          <p:cNvSpPr/>
          <p:nvPr/>
        </p:nvSpPr>
        <p:spPr>
          <a:xfrm>
            <a:off x="428625" y="4304779"/>
            <a:ext cx="6072188" cy="474334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Technical Note:</a:t>
            </a:r>
            <a:r>
              <a:rPr lang="en-US" sz="675" dirty="0">
                <a:solidFill>
                  <a:srgbClr val="2C3E50"/>
                </a:solidFill>
              </a:rPr>
              <a:t> Convergence warning noted during training, suggesting potential for optimization through feature scaling or </a:t>
            </a:r>
            <a:r>
              <a:rPr lang="en-US" sz="675" dirty="0">
                <a:solidFill>
                  <a:srgbClr val="2C3E50"/>
                </a:solidFill>
              </a:rPr>
              <a:t>increased iterations.</a:t>
            </a:r>
            <a:endParaRPr lang="en-US" sz="635" dirty="0"/>
          </a:p>
        </p:txBody>
      </p:sp>
      <p:sp>
        <p:nvSpPr>
          <p:cNvPr id="34" name="Shape 31"/>
          <p:cNvSpPr/>
          <p:nvPr/>
        </p:nvSpPr>
        <p:spPr>
          <a:xfrm>
            <a:off x="6715125" y="1243013"/>
            <a:ext cx="2000250" cy="3000375"/>
          </a:xfrm>
          <a:prstGeom prst="rect">
            <a:avLst/>
          </a:prstGeom>
          <a:solidFill>
            <a:srgbClr val="00A8CC">
              <a:alpha val="5000"/>
            </a:srgbClr>
          </a:solidFill>
          <a:ln w="18288">
            <a:solidFill>
              <a:srgbClr val="00A8CC">
                <a:alpha val="20000"/>
              </a:srgbClr>
            </a:solidFill>
            <a:prstDash val="solid"/>
          </a:ln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281" y="2147897"/>
            <a:ext cx="1785938" cy="1190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67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2857500" cy="3571875"/>
          </a:xfrm>
          <a:prstGeom prst="rect">
            <a:avLst/>
          </a:prstGeom>
          <a:solidFill>
            <a:srgbClr val="00A8CC">
              <a:alpha val="5000"/>
            </a:srgbClr>
          </a:solidFill>
          <a:ln w="18288">
            <a:solidFill>
              <a:srgbClr val="00A8CC">
                <a:alpha val="20000"/>
              </a:srgbClr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571500"/>
            <a:ext cx="2571750" cy="3286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86188" y="428625"/>
            <a:ext cx="478631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5" b="1" dirty="0">
                <a:solidFill>
                  <a:srgbClr val="003D5B"/>
                </a:solidFill>
              </a:rPr>
              <a:t>Model Performance: 85% Accuracy with Critical Caveats</a:t>
            </a:r>
            <a:endParaRPr lang="en-US" sz="2015" dirty="0"/>
          </a:p>
        </p:txBody>
      </p:sp>
      <p:sp>
        <p:nvSpPr>
          <p:cNvPr id="6" name="Shape 2"/>
          <p:cNvSpPr/>
          <p:nvPr/>
        </p:nvSpPr>
        <p:spPr>
          <a:xfrm>
            <a:off x="3786188" y="1364456"/>
            <a:ext cx="4786313" cy="569714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3786188" y="1364456"/>
            <a:ext cx="28575" cy="569714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8" name="Text 4"/>
          <p:cNvSpPr/>
          <p:nvPr/>
        </p:nvSpPr>
        <p:spPr>
          <a:xfrm>
            <a:off x="3914775" y="1581448"/>
            <a:ext cx="1180393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00A8CC"/>
                </a:solidFill>
              </a:rPr>
              <a:t>Training Accuracy</a:t>
            </a:r>
            <a:endParaRPr lang="en-US" sz="685" dirty="0"/>
          </a:p>
        </p:txBody>
      </p:sp>
      <p:sp>
        <p:nvSpPr>
          <p:cNvPr id="9" name="Text 5"/>
          <p:cNvSpPr/>
          <p:nvPr/>
        </p:nvSpPr>
        <p:spPr>
          <a:xfrm>
            <a:off x="5095168" y="1493044"/>
            <a:ext cx="805151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3D5B"/>
                </a:solidFill>
              </a:rPr>
              <a:t>85.06%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786188" y="2077045"/>
            <a:ext cx="4786313" cy="569714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11" name="Shape 7"/>
          <p:cNvSpPr/>
          <p:nvPr/>
        </p:nvSpPr>
        <p:spPr>
          <a:xfrm>
            <a:off x="3786188" y="2077045"/>
            <a:ext cx="28575" cy="569714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12" name="Text 8"/>
          <p:cNvSpPr/>
          <p:nvPr/>
        </p:nvSpPr>
        <p:spPr>
          <a:xfrm>
            <a:off x="3914775" y="2294037"/>
            <a:ext cx="1087022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00A8CC"/>
                </a:solidFill>
              </a:rPr>
              <a:t>Testing Accuracy</a:t>
            </a:r>
            <a:endParaRPr lang="en-US" sz="685" dirty="0"/>
          </a:p>
        </p:txBody>
      </p:sp>
      <p:sp>
        <p:nvSpPr>
          <p:cNvPr id="13" name="Text 9"/>
          <p:cNvSpPr/>
          <p:nvPr/>
        </p:nvSpPr>
        <p:spPr>
          <a:xfrm>
            <a:off x="5001797" y="2205633"/>
            <a:ext cx="805151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3D5B"/>
                </a:solidFill>
              </a:rPr>
              <a:t>85.07%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86188" y="3039666"/>
            <a:ext cx="4786313" cy="2248495"/>
          </a:xfrm>
          <a:prstGeom prst="rect">
            <a:avLst/>
          </a:prstGeom>
          <a:solidFill>
            <a:srgbClr val="E74C3C">
              <a:alpha val="8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3786188" y="3039666"/>
            <a:ext cx="4786313" cy="1428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6" name="Shape 12"/>
          <p:cNvSpPr/>
          <p:nvPr/>
        </p:nvSpPr>
        <p:spPr>
          <a:xfrm>
            <a:off x="3786188" y="3039666"/>
            <a:ext cx="28575" cy="2248495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7" name="Text 13"/>
          <p:cNvSpPr/>
          <p:nvPr/>
        </p:nvSpPr>
        <p:spPr>
          <a:xfrm>
            <a:off x="3964781" y="3218259"/>
            <a:ext cx="4429125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E74C3C"/>
                </a:solidFill>
              </a:rPr>
              <a:t>Critical Caveat: The Imbalance Problem</a:t>
            </a:r>
            <a:endParaRPr lang="en-US" sz="785" dirty="0"/>
          </a:p>
        </p:txBody>
      </p:sp>
      <p:sp>
        <p:nvSpPr>
          <p:cNvPr id="18" name="Text 14"/>
          <p:cNvSpPr/>
          <p:nvPr/>
        </p:nvSpPr>
        <p:spPr>
          <a:xfrm>
            <a:off x="3964781" y="3480792"/>
            <a:ext cx="442912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While the model achieves </a:t>
            </a:r>
            <a:r>
              <a:rPr lang="en-US" sz="735" b="1" dirty="0">
                <a:solidFill>
                  <a:srgbClr val="E74C3C"/>
                </a:solidFill>
              </a:rPr>
              <a:t>85% accuracy on unseen data</a:t>
            </a:r>
            <a:r>
              <a:rPr lang="en-US" sz="780" dirty="0">
                <a:solidFill>
                  <a:srgbClr val="2C3E50"/>
                </a:solidFill>
              </a:rPr>
              <a:t>, this metric is </a:t>
            </a:r>
            <a:r>
              <a:rPr lang="en-US" sz="735" b="1" dirty="0">
                <a:solidFill>
                  <a:srgbClr val="E74C3C"/>
                </a:solidFill>
              </a:rPr>
              <a:t>highly misleading</a:t>
            </a:r>
            <a:r>
              <a:rPr lang="en-US" sz="780" dirty="0">
                <a:solidFill>
                  <a:srgbClr val="2C3E50"/>
                </a:solidFill>
              </a:rPr>
              <a:t> due to severe class imbalance in the dataset.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3964781" y="3909417"/>
            <a:ext cx="442912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Only </a:t>
            </a:r>
            <a:r>
              <a:rPr lang="en-US" sz="735" b="1" dirty="0">
                <a:solidFill>
                  <a:srgbClr val="E74C3C"/>
                </a:solidFill>
              </a:rPr>
              <a:t>approximately 15% of the population</a:t>
            </a:r>
            <a:r>
              <a:rPr lang="en-US" sz="780" dirty="0">
                <a:solidFill>
                  <a:srgbClr val="2C3E50"/>
                </a:solidFill>
              </a:rPr>
              <a:t> in the Framingham dataset has coronary </a:t>
            </a:r>
            <a:r>
              <a:rPr lang="en-US" sz="780" dirty="0">
                <a:solidFill>
                  <a:srgbClr val="2C3E50"/>
                </a:solidFill>
              </a:rPr>
              <a:t>heart disease (CHD). This means the model can achieve 85% accuracy simply by </a:t>
            </a:r>
            <a:r>
              <a:rPr lang="en-US" sz="735" b="1" dirty="0">
                <a:solidFill>
                  <a:srgbClr val="E74C3C"/>
                </a:solidFill>
              </a:rPr>
              <a:t>predicting "No CHD" for almost everyone</a:t>
            </a:r>
            <a:r>
              <a:rPr lang="en-US" sz="780" dirty="0">
                <a:solidFill>
                  <a:srgbClr val="2C3E50"/>
                </a:solidFill>
              </a:rPr>
              <a:t>.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3964781" y="4530923"/>
            <a:ext cx="4429125" cy="564356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2C3E50"/>
                </a:solidFill>
              </a:rPr>
              <a:t>Implication:</a:t>
            </a:r>
            <a:r>
              <a:rPr lang="en-US" sz="725" dirty="0">
                <a:solidFill>
                  <a:srgbClr val="2C3E50"/>
                </a:solidFill>
              </a:rPr>
              <a:t> High accuracy alone is not a reliable indicator of model quality for imbalanced </a:t>
            </a:r>
            <a:r>
              <a:rPr lang="en-US" sz="725" dirty="0">
                <a:solidFill>
                  <a:srgbClr val="2C3E50"/>
                </a:solidFill>
              </a:rPr>
              <a:t>datasets. We must examine precision, recall, and other metrics to assess the model's true </a:t>
            </a:r>
            <a:r>
              <a:rPr lang="en-US" sz="725" dirty="0">
                <a:solidFill>
                  <a:srgbClr val="2C3E50"/>
                </a:solidFill>
              </a:rPr>
              <a:t>ability to identify high-risk patients.</a:t>
            </a:r>
            <a:endParaRPr lang="en-US" sz="6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152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786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5" b="1" dirty="0">
                <a:solidFill>
                  <a:srgbClr val="003D5B"/>
                </a:solidFill>
              </a:rPr>
              <a:t>Deep Analysis: Precision, Recall, and the Imbalance Problem</a:t>
            </a:r>
            <a:endParaRPr lang="en-US" sz="2015" dirty="0"/>
          </a:p>
        </p:txBody>
      </p:sp>
      <p:sp>
        <p:nvSpPr>
          <p:cNvPr id="4" name="Text 1"/>
          <p:cNvSpPr/>
          <p:nvPr/>
        </p:nvSpPr>
        <p:spPr>
          <a:xfrm>
            <a:off x="571500" y="1493044"/>
            <a:ext cx="3857625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Confusion Matrix (Test Set)</a:t>
            </a:r>
            <a:endParaRPr lang="en-US" sz="785" dirty="0"/>
          </a:p>
        </p:txBody>
      </p:sp>
      <p:sp>
        <p:nvSpPr>
          <p:cNvPr id="5" name="Shape 2"/>
          <p:cNvSpPr/>
          <p:nvPr/>
        </p:nvSpPr>
        <p:spPr>
          <a:xfrm>
            <a:off x="571500" y="1791295"/>
            <a:ext cx="3857625" cy="19431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" name="Shape 3"/>
          <p:cNvSpPr/>
          <p:nvPr/>
        </p:nvSpPr>
        <p:spPr>
          <a:xfrm>
            <a:off x="1457325" y="1805583"/>
            <a:ext cx="1471613" cy="285750"/>
          </a:xfrm>
          <a:prstGeom prst="rect">
            <a:avLst/>
          </a:prstGeom>
          <a:solidFill>
            <a:srgbClr val="003D5B"/>
          </a:solidFill>
        </p:spPr>
      </p:sp>
      <p:sp>
        <p:nvSpPr>
          <p:cNvPr id="7" name="Text 4"/>
          <p:cNvSpPr/>
          <p:nvPr/>
        </p:nvSpPr>
        <p:spPr>
          <a:xfrm>
            <a:off x="1457325" y="1805583"/>
            <a:ext cx="1471613" cy="285750"/>
          </a:xfrm>
          <a:prstGeom prst="rect">
            <a:avLst/>
          </a:prstGeom>
          <a:noFill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</a:rPr>
              <a:t>Predicted: No CHD</a:t>
            </a:r>
            <a:endParaRPr lang="en-US" sz="635" dirty="0"/>
          </a:p>
        </p:txBody>
      </p:sp>
      <p:sp>
        <p:nvSpPr>
          <p:cNvPr id="8" name="Shape 5"/>
          <p:cNvSpPr/>
          <p:nvPr/>
        </p:nvSpPr>
        <p:spPr>
          <a:xfrm>
            <a:off x="2943225" y="1805583"/>
            <a:ext cx="1471613" cy="285750"/>
          </a:xfrm>
          <a:prstGeom prst="rect">
            <a:avLst/>
          </a:prstGeom>
          <a:solidFill>
            <a:srgbClr val="003D5B"/>
          </a:solidFill>
        </p:spPr>
      </p:sp>
      <p:sp>
        <p:nvSpPr>
          <p:cNvPr id="9" name="Text 6"/>
          <p:cNvSpPr/>
          <p:nvPr/>
        </p:nvSpPr>
        <p:spPr>
          <a:xfrm>
            <a:off x="2943225" y="1805583"/>
            <a:ext cx="1471613" cy="285750"/>
          </a:xfrm>
          <a:prstGeom prst="rect">
            <a:avLst/>
          </a:prstGeom>
          <a:noFill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</a:rPr>
              <a:t>Predicted: CHD</a:t>
            </a:r>
            <a:endParaRPr lang="en-US" sz="635" dirty="0"/>
          </a:p>
        </p:txBody>
      </p:sp>
      <p:sp>
        <p:nvSpPr>
          <p:cNvPr id="10" name="Shape 7"/>
          <p:cNvSpPr/>
          <p:nvPr/>
        </p:nvSpPr>
        <p:spPr>
          <a:xfrm>
            <a:off x="585788" y="2105620"/>
            <a:ext cx="857250" cy="800100"/>
          </a:xfrm>
          <a:prstGeom prst="rect">
            <a:avLst/>
          </a:prstGeom>
          <a:solidFill>
            <a:srgbClr val="003D5B"/>
          </a:solidFill>
        </p:spPr>
      </p:sp>
      <p:sp>
        <p:nvSpPr>
          <p:cNvPr id="11" name="Text 8"/>
          <p:cNvSpPr/>
          <p:nvPr/>
        </p:nvSpPr>
        <p:spPr>
          <a:xfrm>
            <a:off x="585788" y="2105620"/>
            <a:ext cx="857250" cy="800100"/>
          </a:xfrm>
          <a:prstGeom prst="rect">
            <a:avLst/>
          </a:prstGeom>
          <a:noFill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</a:rPr>
              <a:t>Actual: No CHD</a:t>
            </a:r>
            <a:endParaRPr lang="en-US" sz="635" dirty="0"/>
          </a:p>
        </p:txBody>
      </p:sp>
      <p:sp>
        <p:nvSpPr>
          <p:cNvPr id="12" name="Shape 9"/>
          <p:cNvSpPr/>
          <p:nvPr/>
        </p:nvSpPr>
        <p:spPr>
          <a:xfrm>
            <a:off x="1457325" y="2105620"/>
            <a:ext cx="1471613" cy="8001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A8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9312" y="2262783"/>
            <a:ext cx="747638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2C3E50"/>
                </a:solidFill>
              </a:rPr>
              <a:t>True Negatives</a:t>
            </a:r>
            <a:endParaRPr lang="en-US" sz="585" dirty="0"/>
          </a:p>
        </p:txBody>
      </p:sp>
      <p:sp>
        <p:nvSpPr>
          <p:cNvPr id="14" name="Text 11"/>
          <p:cNvSpPr/>
          <p:nvPr/>
        </p:nvSpPr>
        <p:spPr>
          <a:xfrm>
            <a:off x="1994920" y="2436019"/>
            <a:ext cx="396394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3D5B"/>
                </a:solidFill>
              </a:rPr>
              <a:t>622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943225" y="2105620"/>
            <a:ext cx="1471613" cy="800100"/>
          </a:xfrm>
          <a:prstGeom prst="rect">
            <a:avLst/>
          </a:prstGeom>
          <a:solidFill>
            <a:srgbClr val="FFFFFF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04403" y="2262783"/>
            <a:ext cx="749257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2C3E50"/>
                </a:solidFill>
              </a:rPr>
              <a:t>False Positives</a:t>
            </a:r>
            <a:endParaRPr lang="en-US" sz="585" dirty="0"/>
          </a:p>
        </p:txBody>
      </p:sp>
      <p:sp>
        <p:nvSpPr>
          <p:cNvPr id="17" name="Text 14"/>
          <p:cNvSpPr/>
          <p:nvPr/>
        </p:nvSpPr>
        <p:spPr>
          <a:xfrm>
            <a:off x="3546900" y="2436019"/>
            <a:ext cx="264263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74C3C"/>
                </a:solidFill>
              </a:rPr>
              <a:t>12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5788" y="2920008"/>
            <a:ext cx="857250" cy="800100"/>
          </a:xfrm>
          <a:prstGeom prst="rect">
            <a:avLst/>
          </a:prstGeom>
          <a:solidFill>
            <a:srgbClr val="003D5B"/>
          </a:solidFill>
        </p:spPr>
      </p:sp>
      <p:sp>
        <p:nvSpPr>
          <p:cNvPr id="19" name="Text 16"/>
          <p:cNvSpPr/>
          <p:nvPr/>
        </p:nvSpPr>
        <p:spPr>
          <a:xfrm>
            <a:off x="585788" y="2920008"/>
            <a:ext cx="857250" cy="800100"/>
          </a:xfrm>
          <a:prstGeom prst="rect">
            <a:avLst/>
          </a:prstGeom>
          <a:noFill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</a:rPr>
              <a:t>Actual: CHD</a:t>
            </a:r>
            <a:endParaRPr lang="en-US" sz="635" dirty="0"/>
          </a:p>
        </p:txBody>
      </p:sp>
      <p:sp>
        <p:nvSpPr>
          <p:cNvPr id="20" name="Shape 17"/>
          <p:cNvSpPr/>
          <p:nvPr/>
        </p:nvSpPr>
        <p:spPr>
          <a:xfrm>
            <a:off x="1457325" y="2920008"/>
            <a:ext cx="1471613" cy="800100"/>
          </a:xfrm>
          <a:prstGeom prst="rect">
            <a:avLst/>
          </a:prstGeom>
          <a:solidFill>
            <a:srgbClr val="FFFFFF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03546" y="3077170"/>
            <a:ext cx="779171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2C3E50"/>
                </a:solidFill>
              </a:rPr>
              <a:t>False Negatives</a:t>
            </a:r>
            <a:endParaRPr lang="en-US" sz="585" dirty="0"/>
          </a:p>
        </p:txBody>
      </p:sp>
      <p:sp>
        <p:nvSpPr>
          <p:cNvPr id="22" name="Text 19"/>
          <p:cNvSpPr/>
          <p:nvPr/>
        </p:nvSpPr>
        <p:spPr>
          <a:xfrm>
            <a:off x="2061000" y="3250406"/>
            <a:ext cx="264263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74C3C"/>
                </a:solidFill>
              </a:rPr>
              <a:t>97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943225" y="2920008"/>
            <a:ext cx="1471613" cy="800100"/>
          </a:xfrm>
          <a:prstGeom prst="rect">
            <a:avLst/>
          </a:prstGeom>
          <a:solidFill>
            <a:srgbClr val="FFFFFF"/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20169" y="3034308"/>
            <a:ext cx="717724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2C3E50"/>
                </a:solidFill>
              </a:rPr>
              <a:t>True Positives</a:t>
            </a:r>
            <a:endParaRPr lang="en-US" sz="585" dirty="0"/>
          </a:p>
        </p:txBody>
      </p:sp>
      <p:sp>
        <p:nvSpPr>
          <p:cNvPr id="25" name="Text 22"/>
          <p:cNvSpPr/>
          <p:nvPr/>
        </p:nvSpPr>
        <p:spPr>
          <a:xfrm>
            <a:off x="3612952" y="3207544"/>
            <a:ext cx="132131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74C3C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714875" y="1493044"/>
            <a:ext cx="3857625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Performance Metrics (Class: CHD)</a:t>
            </a:r>
            <a:endParaRPr lang="en-US" sz="785" dirty="0"/>
          </a:p>
        </p:txBody>
      </p:sp>
      <p:sp>
        <p:nvSpPr>
          <p:cNvPr id="27" name="Shape 24"/>
          <p:cNvSpPr/>
          <p:nvPr/>
        </p:nvSpPr>
        <p:spPr>
          <a:xfrm>
            <a:off x="4714875" y="1791295"/>
            <a:ext cx="1857375" cy="1202606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4714875" y="1791295"/>
            <a:ext cx="28575" cy="1202606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29" name="Text 26"/>
          <p:cNvSpPr/>
          <p:nvPr/>
        </p:nvSpPr>
        <p:spPr>
          <a:xfrm>
            <a:off x="4893469" y="1969889"/>
            <a:ext cx="150018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00A8CC"/>
                </a:solidFill>
              </a:rPr>
              <a:t>Precision</a:t>
            </a:r>
            <a:endParaRPr lang="en-US" sz="635" dirty="0"/>
          </a:p>
        </p:txBody>
      </p:sp>
      <p:sp>
        <p:nvSpPr>
          <p:cNvPr id="30" name="Text 27"/>
          <p:cNvSpPr/>
          <p:nvPr/>
        </p:nvSpPr>
        <p:spPr>
          <a:xfrm>
            <a:off x="4893469" y="2168128"/>
            <a:ext cx="1500188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003D5B"/>
                </a:solidFill>
              </a:rPr>
              <a:t>14.29%</a:t>
            </a:r>
            <a:endParaRPr lang="en-US" sz="1810" dirty="0"/>
          </a:p>
        </p:txBody>
      </p:sp>
      <p:sp>
        <p:nvSpPr>
          <p:cNvPr id="31" name="Text 28"/>
          <p:cNvSpPr/>
          <p:nvPr/>
        </p:nvSpPr>
        <p:spPr>
          <a:xfrm>
            <a:off x="4893469" y="2575322"/>
            <a:ext cx="1500188" cy="239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2C3E50"/>
                </a:solidFill>
              </a:rPr>
              <a:t>Of all predicted CHD cases, only 14.29% were correct</a:t>
            </a:r>
            <a:endParaRPr lang="en-US" sz="620" dirty="0"/>
          </a:p>
        </p:txBody>
      </p:sp>
      <p:sp>
        <p:nvSpPr>
          <p:cNvPr id="32" name="Shape 29"/>
          <p:cNvSpPr/>
          <p:nvPr/>
        </p:nvSpPr>
        <p:spPr>
          <a:xfrm>
            <a:off x="6715125" y="1791295"/>
            <a:ext cx="1857375" cy="1202606"/>
          </a:xfrm>
          <a:prstGeom prst="rect">
            <a:avLst/>
          </a:prstGeom>
          <a:solidFill>
            <a:srgbClr val="E74C3C">
              <a:alpha val="8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6715125" y="1791295"/>
            <a:ext cx="28575" cy="1202606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34" name="Text 31"/>
          <p:cNvSpPr/>
          <p:nvPr/>
        </p:nvSpPr>
        <p:spPr>
          <a:xfrm>
            <a:off x="6893719" y="1969889"/>
            <a:ext cx="150018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Recall (Sensitivity)</a:t>
            </a:r>
            <a:endParaRPr lang="en-US" sz="635" dirty="0"/>
          </a:p>
        </p:txBody>
      </p:sp>
      <p:sp>
        <p:nvSpPr>
          <p:cNvPr id="35" name="Text 32"/>
          <p:cNvSpPr/>
          <p:nvPr/>
        </p:nvSpPr>
        <p:spPr>
          <a:xfrm>
            <a:off x="6893719" y="2168128"/>
            <a:ext cx="1500188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E74C3C"/>
                </a:solidFill>
              </a:rPr>
              <a:t>2.02%</a:t>
            </a:r>
            <a:endParaRPr lang="en-US" sz="1810" dirty="0"/>
          </a:p>
        </p:txBody>
      </p:sp>
      <p:sp>
        <p:nvSpPr>
          <p:cNvPr id="36" name="Text 33"/>
          <p:cNvSpPr/>
          <p:nvPr/>
        </p:nvSpPr>
        <p:spPr>
          <a:xfrm>
            <a:off x="6893719" y="2575322"/>
            <a:ext cx="1500188" cy="239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2C3E50"/>
                </a:solidFill>
              </a:rPr>
              <a:t>Model caught only 2.02% of actual CHD cases</a:t>
            </a:r>
            <a:endParaRPr lang="en-US" sz="620" dirty="0"/>
          </a:p>
        </p:txBody>
      </p:sp>
      <p:sp>
        <p:nvSpPr>
          <p:cNvPr id="37" name="Shape 34"/>
          <p:cNvSpPr/>
          <p:nvPr/>
        </p:nvSpPr>
        <p:spPr>
          <a:xfrm>
            <a:off x="4714875" y="3136776"/>
            <a:ext cx="1857375" cy="1202606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4714875" y="3136776"/>
            <a:ext cx="28575" cy="1202606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39" name="Text 36"/>
          <p:cNvSpPr/>
          <p:nvPr/>
        </p:nvSpPr>
        <p:spPr>
          <a:xfrm>
            <a:off x="4893469" y="3315370"/>
            <a:ext cx="150018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00A8CC"/>
                </a:solidFill>
              </a:rPr>
              <a:t>Specificity</a:t>
            </a:r>
            <a:endParaRPr lang="en-US" sz="635" dirty="0"/>
          </a:p>
        </p:txBody>
      </p:sp>
      <p:sp>
        <p:nvSpPr>
          <p:cNvPr id="40" name="Text 37"/>
          <p:cNvSpPr/>
          <p:nvPr/>
        </p:nvSpPr>
        <p:spPr>
          <a:xfrm>
            <a:off x="4893469" y="3513609"/>
            <a:ext cx="1500188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003D5B"/>
                </a:solidFill>
              </a:rPr>
              <a:t>98.10%</a:t>
            </a:r>
            <a:endParaRPr lang="en-US" sz="1810" dirty="0"/>
          </a:p>
        </p:txBody>
      </p:sp>
      <p:sp>
        <p:nvSpPr>
          <p:cNvPr id="41" name="Text 38"/>
          <p:cNvSpPr/>
          <p:nvPr/>
        </p:nvSpPr>
        <p:spPr>
          <a:xfrm>
            <a:off x="4893469" y="3920803"/>
            <a:ext cx="1500188" cy="239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2C3E50"/>
                </a:solidFill>
              </a:rPr>
              <a:t>Model correctly identifies 98.10% of non-CHD cases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6715125" y="3136776"/>
            <a:ext cx="1857375" cy="1202606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6715125" y="3136776"/>
            <a:ext cx="28575" cy="1202606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44" name="Text 41"/>
          <p:cNvSpPr/>
          <p:nvPr/>
        </p:nvSpPr>
        <p:spPr>
          <a:xfrm>
            <a:off x="6893719" y="3315370"/>
            <a:ext cx="150018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00A8CC"/>
                </a:solidFill>
              </a:rPr>
              <a:t>F1 Score</a:t>
            </a:r>
            <a:endParaRPr lang="en-US" sz="635" dirty="0"/>
          </a:p>
        </p:txBody>
      </p:sp>
      <p:sp>
        <p:nvSpPr>
          <p:cNvPr id="45" name="Text 42"/>
          <p:cNvSpPr/>
          <p:nvPr/>
        </p:nvSpPr>
        <p:spPr>
          <a:xfrm>
            <a:off x="6893719" y="3513609"/>
            <a:ext cx="1500188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003D5B"/>
                </a:solidFill>
              </a:rPr>
              <a:t>0.034</a:t>
            </a:r>
            <a:endParaRPr lang="en-US" sz="1810" dirty="0"/>
          </a:p>
        </p:txBody>
      </p:sp>
      <p:sp>
        <p:nvSpPr>
          <p:cNvPr id="46" name="Text 43"/>
          <p:cNvSpPr/>
          <p:nvPr/>
        </p:nvSpPr>
        <p:spPr>
          <a:xfrm>
            <a:off x="6893719" y="3920803"/>
            <a:ext cx="1500188" cy="239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2C3E50"/>
                </a:solidFill>
              </a:rPr>
              <a:t>Harmonic mean of precision and recall</a:t>
            </a:r>
            <a:endParaRPr lang="en-US" sz="620" dirty="0"/>
          </a:p>
        </p:txBody>
      </p:sp>
      <p:sp>
        <p:nvSpPr>
          <p:cNvPr id="47" name="Shape 44"/>
          <p:cNvSpPr/>
          <p:nvPr/>
        </p:nvSpPr>
        <p:spPr>
          <a:xfrm>
            <a:off x="4714875" y="4553694"/>
            <a:ext cx="3857625" cy="1232967"/>
          </a:xfrm>
          <a:prstGeom prst="rect">
            <a:avLst/>
          </a:prstGeom>
          <a:solidFill>
            <a:srgbClr val="E74C3C">
              <a:alpha val="10000"/>
            </a:srgbClr>
          </a:solidFill>
          <a:ln w="18288">
            <a:solidFill>
              <a:srgbClr val="E74C3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93469" y="4732288"/>
            <a:ext cx="3500438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E74C3C"/>
                </a:solidFill>
              </a:rPr>
              <a:t>Critical Finding</a:t>
            </a:r>
            <a:endParaRPr lang="en-US" sz="685" dirty="0"/>
          </a:p>
        </p:txBody>
      </p:sp>
      <p:sp>
        <p:nvSpPr>
          <p:cNvPr id="49" name="Text 46"/>
          <p:cNvSpPr/>
          <p:nvPr/>
        </p:nvSpPr>
        <p:spPr>
          <a:xfrm>
            <a:off x="4893469" y="4939457"/>
            <a:ext cx="3500438" cy="640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2C3E50"/>
                </a:solidFill>
              </a:rPr>
              <a:t>The model exhibits </a:t>
            </a:r>
            <a:r>
              <a:rPr lang="en-US" sz="685" b="1" dirty="0">
                <a:solidFill>
                  <a:srgbClr val="E74C3C"/>
                </a:solidFill>
              </a:rPr>
              <a:t>extreme bias toward the majority class</a:t>
            </a:r>
            <a:r>
              <a:rPr lang="en-US" sz="725" dirty="0">
                <a:solidFill>
                  <a:srgbClr val="2C3E50"/>
                </a:solidFill>
              </a:rPr>
              <a:t> (No CHD). </a:t>
            </a:r>
            <a:r>
              <a:rPr lang="en-US" sz="725" dirty="0">
                <a:solidFill>
                  <a:srgbClr val="2C3E50"/>
                </a:solidFill>
              </a:rPr>
              <a:t>With a recall of only 2.02%, the model </a:t>
            </a:r>
            <a:r>
              <a:rPr lang="en-US" sz="685" b="1" dirty="0">
                <a:solidFill>
                  <a:srgbClr val="E74C3C"/>
                </a:solidFill>
              </a:rPr>
              <a:t>fails to identify 97.98% of high-risk patients</a:t>
            </a:r>
            <a:r>
              <a:rPr lang="en-US" sz="725" dirty="0">
                <a:solidFill>
                  <a:srgbClr val="2C3E50"/>
                </a:solidFill>
              </a:rPr>
              <a:t>. This makes the model </a:t>
            </a:r>
            <a:r>
              <a:rPr lang="en-US" sz="685" b="1" dirty="0">
                <a:solidFill>
                  <a:srgbClr val="E74C3C"/>
                </a:solidFill>
              </a:rPr>
              <a:t>unsuitable for clinical use</a:t>
            </a:r>
            <a:r>
              <a:rPr lang="en-US" sz="725" dirty="0">
                <a:solidFill>
                  <a:srgbClr val="2C3E50"/>
                </a:solidFill>
              </a:rPr>
              <a:t>, as </a:t>
            </a:r>
            <a:r>
              <a:rPr lang="en-US" sz="725" dirty="0">
                <a:solidFill>
                  <a:srgbClr val="2C3E50"/>
                </a:solidFill>
              </a:rPr>
              <a:t>missing actual CHD cases could have severe health consequences.</a:t>
            </a:r>
            <a:endParaRPr lang="en-US" sz="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33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5" b="1" dirty="0">
                <a:solidFill>
                  <a:srgbClr val="003D5B"/>
                </a:solidFill>
              </a:rPr>
              <a:t>Conclusions: Critical Findings on Model Performance</a:t>
            </a:r>
            <a:endParaRPr lang="en-US" sz="2015" dirty="0"/>
          </a:p>
        </p:txBody>
      </p:sp>
      <p:sp>
        <p:nvSpPr>
          <p:cNvPr id="4" name="Text 1"/>
          <p:cNvSpPr/>
          <p:nvPr/>
        </p:nvSpPr>
        <p:spPr>
          <a:xfrm>
            <a:off x="500063" y="914400"/>
            <a:ext cx="394692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1" dirty="0">
                <a:solidFill>
                  <a:srgbClr val="00A8CC"/>
                </a:solidFill>
              </a:rPr>
              <a:t>Key Findings</a:t>
            </a:r>
            <a:endParaRPr lang="en-US" sz="785" dirty="0"/>
          </a:p>
        </p:txBody>
      </p:sp>
      <p:sp>
        <p:nvSpPr>
          <p:cNvPr id="5" name="Shape 2"/>
          <p:cNvSpPr/>
          <p:nvPr/>
        </p:nvSpPr>
        <p:spPr>
          <a:xfrm>
            <a:off x="500063" y="1255514"/>
            <a:ext cx="3946922" cy="1159073"/>
          </a:xfrm>
          <a:prstGeom prst="rect">
            <a:avLst/>
          </a:prstGeom>
          <a:solidFill>
            <a:srgbClr val="E74C3C">
              <a:alpha val="8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500063" y="1255514"/>
            <a:ext cx="28575" cy="1159073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7" name="Text 4"/>
          <p:cNvSpPr/>
          <p:nvPr/>
        </p:nvSpPr>
        <p:spPr>
          <a:xfrm>
            <a:off x="657225" y="1412677"/>
            <a:ext cx="3632597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E74C3C"/>
                </a:solidFill>
              </a:rPr>
              <a:t>Overall Accuracy</a:t>
            </a:r>
            <a:endParaRPr lang="en-US" sz="585" dirty="0"/>
          </a:p>
        </p:txBody>
      </p:sp>
      <p:sp>
        <p:nvSpPr>
          <p:cNvPr id="8" name="Text 5"/>
          <p:cNvSpPr/>
          <p:nvPr/>
        </p:nvSpPr>
        <p:spPr>
          <a:xfrm>
            <a:off x="657225" y="1585913"/>
            <a:ext cx="3632597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003D5B"/>
                </a:solidFill>
              </a:rPr>
              <a:t>85.07%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657225" y="1978819"/>
            <a:ext cx="3632597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High accuracy achieved on test set, but misleading due to class imbalance in the dataset</a:t>
            </a:r>
            <a:endParaRPr lang="en-US" sz="675" dirty="0"/>
          </a:p>
        </p:txBody>
      </p:sp>
      <p:sp>
        <p:nvSpPr>
          <p:cNvPr id="10" name="Shape 7"/>
          <p:cNvSpPr/>
          <p:nvPr/>
        </p:nvSpPr>
        <p:spPr>
          <a:xfrm>
            <a:off x="500063" y="2543175"/>
            <a:ext cx="3946922" cy="1019770"/>
          </a:xfrm>
          <a:prstGeom prst="rect">
            <a:avLst/>
          </a:prstGeom>
          <a:solidFill>
            <a:srgbClr val="E74C3C">
              <a:alpha val="8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00063" y="2543175"/>
            <a:ext cx="28575" cy="101977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2" name="Text 9"/>
          <p:cNvSpPr/>
          <p:nvPr/>
        </p:nvSpPr>
        <p:spPr>
          <a:xfrm>
            <a:off x="657225" y="2700338"/>
            <a:ext cx="3632597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E74C3C"/>
                </a:solidFill>
              </a:rPr>
              <a:t>Critical Issue: Recall</a:t>
            </a:r>
            <a:endParaRPr lang="en-US" sz="585" dirty="0"/>
          </a:p>
        </p:txBody>
      </p:sp>
      <p:sp>
        <p:nvSpPr>
          <p:cNvPr id="13" name="Text 10"/>
          <p:cNvSpPr/>
          <p:nvPr/>
        </p:nvSpPr>
        <p:spPr>
          <a:xfrm>
            <a:off x="657225" y="2873573"/>
            <a:ext cx="3632597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003D5B"/>
                </a:solidFill>
              </a:rPr>
              <a:t>2.02%</a:t>
            </a:r>
            <a:endParaRPr lang="en-US" sz="1810" dirty="0"/>
          </a:p>
        </p:txBody>
      </p:sp>
      <p:sp>
        <p:nvSpPr>
          <p:cNvPr id="14" name="Text 11"/>
          <p:cNvSpPr/>
          <p:nvPr/>
        </p:nvSpPr>
        <p:spPr>
          <a:xfrm>
            <a:off x="657225" y="3266480"/>
            <a:ext cx="3632597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Model identifies only 2% of actual CHD cases, missing 98% of high-risk patients</a:t>
            </a:r>
            <a:endParaRPr lang="en-US" sz="675" dirty="0"/>
          </a:p>
        </p:txBody>
      </p:sp>
      <p:sp>
        <p:nvSpPr>
          <p:cNvPr id="15" name="Shape 12"/>
          <p:cNvSpPr/>
          <p:nvPr/>
        </p:nvSpPr>
        <p:spPr>
          <a:xfrm>
            <a:off x="4697016" y="914400"/>
            <a:ext cx="3946922" cy="2712225"/>
          </a:xfrm>
          <a:prstGeom prst="rect">
            <a:avLst/>
          </a:prstGeom>
          <a:solidFill>
            <a:srgbClr val="00A8CC">
              <a:alpha val="5000"/>
            </a:srgbClr>
          </a:solidFill>
          <a:ln w="18288">
            <a:solidFill>
              <a:srgbClr val="00A8CC">
                <a:alpha val="20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72" y="1021556"/>
            <a:ext cx="3732609" cy="248839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97016" y="3745697"/>
            <a:ext cx="3946922" cy="1221581"/>
          </a:xfrm>
          <a:prstGeom prst="rect">
            <a:avLst/>
          </a:prstGeom>
          <a:solidFill>
            <a:srgbClr val="E74C3C">
              <a:alpha val="1200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4697016" y="3745697"/>
            <a:ext cx="3946922" cy="1428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9" name="Shape 15"/>
          <p:cNvSpPr/>
          <p:nvPr/>
        </p:nvSpPr>
        <p:spPr>
          <a:xfrm>
            <a:off x="4697016" y="3745697"/>
            <a:ext cx="28575" cy="1221581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20" name="Text 16"/>
          <p:cNvSpPr/>
          <p:nvPr/>
        </p:nvSpPr>
        <p:spPr>
          <a:xfrm>
            <a:off x="4839891" y="3888572"/>
            <a:ext cx="366117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E74C3C"/>
                </a:solidFill>
              </a:rPr>
              <a:t>Clinical Viability Assessment</a:t>
            </a:r>
            <a:endParaRPr lang="en-US" sz="635" dirty="0"/>
          </a:p>
        </p:txBody>
      </p:sp>
      <p:sp>
        <p:nvSpPr>
          <p:cNvPr id="21" name="Text 17"/>
          <p:cNvSpPr/>
          <p:nvPr/>
        </p:nvSpPr>
        <p:spPr>
          <a:xfrm>
            <a:off x="4839891" y="4086811"/>
            <a:ext cx="3661172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The current model is </a:t>
            </a:r>
            <a:r>
              <a:rPr lang="en-US" sz="635" b="1" dirty="0">
                <a:solidFill>
                  <a:srgbClr val="E74C3C"/>
                </a:solidFill>
              </a:rPr>
              <a:t>unsuitable for clinical use</a:t>
            </a:r>
            <a:r>
              <a:rPr lang="en-US" sz="675" dirty="0">
                <a:solidFill>
                  <a:srgbClr val="2C3E50"/>
                </a:solidFill>
              </a:rPr>
              <a:t>. While it achieves high accuracy, </a:t>
            </a:r>
            <a:r>
              <a:rPr lang="en-US" sz="675" dirty="0">
                <a:solidFill>
                  <a:srgbClr val="2C3E50"/>
                </a:solidFill>
              </a:rPr>
              <a:t>the extremely low recall means it fails to identify almost all patients at actual risk of </a:t>
            </a:r>
            <a:r>
              <a:rPr lang="en-US" sz="675" dirty="0">
                <a:solidFill>
                  <a:srgbClr val="2C3E50"/>
                </a:solidFill>
              </a:rPr>
              <a:t>CHD, making it potentially dangerous in a healthcare setting.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4839891" y="4590445"/>
            <a:ext cx="3661172" cy="219670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0" i="1" dirty="0">
                <a:solidFill>
                  <a:srgbClr val="00A8CC"/>
                </a:solidFill>
              </a:rPr>
              <a:t>→ See next slide for recommended improvements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2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10" b="1" dirty="0">
                <a:solidFill>
                  <a:srgbClr val="003D5B"/>
                </a:solidFill>
              </a:rPr>
              <a:t>Future Recommendations: Pathways to Clinical Viability</a:t>
            </a:r>
            <a:endParaRPr lang="en-US" sz="1910" dirty="0"/>
          </a:p>
        </p:txBody>
      </p:sp>
      <p:sp>
        <p:nvSpPr>
          <p:cNvPr id="4" name="Shape 1"/>
          <p:cNvSpPr/>
          <p:nvPr/>
        </p:nvSpPr>
        <p:spPr>
          <a:xfrm>
            <a:off x="571500" y="897238"/>
            <a:ext cx="3911203" cy="1047564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71500" y="897238"/>
            <a:ext cx="3911203" cy="14288"/>
          </a:xfrm>
          <a:prstGeom prst="rect">
            <a:avLst/>
          </a:prstGeom>
          <a:solidFill>
            <a:srgbClr val="B3E5F0"/>
          </a:solidFill>
        </p:spPr>
      </p:sp>
      <p:sp>
        <p:nvSpPr>
          <p:cNvPr id="6" name="Shape 3"/>
          <p:cNvSpPr/>
          <p:nvPr/>
        </p:nvSpPr>
        <p:spPr>
          <a:xfrm>
            <a:off x="571500" y="897238"/>
            <a:ext cx="28575" cy="1047564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7" name="Text 4"/>
          <p:cNvSpPr/>
          <p:nvPr/>
        </p:nvSpPr>
        <p:spPr>
          <a:xfrm>
            <a:off x="742950" y="1068688"/>
            <a:ext cx="356830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kern="0" spc="1" dirty="0">
                <a:solidFill>
                  <a:srgbClr val="00A8CC"/>
                </a:solidFill>
              </a:rPr>
              <a:t>1. Address Data Imbalance</a:t>
            </a:r>
            <a:endParaRPr lang="en-US" sz="585" dirty="0"/>
          </a:p>
        </p:txBody>
      </p:sp>
      <p:sp>
        <p:nvSpPr>
          <p:cNvPr id="8" name="Text 5"/>
          <p:cNvSpPr/>
          <p:nvPr/>
        </p:nvSpPr>
        <p:spPr>
          <a:xfrm>
            <a:off x="742950" y="1241924"/>
            <a:ext cx="3568303" cy="1485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003D5B"/>
                </a:solidFill>
              </a:rPr>
              <a:t>SMOTE &amp; Class Weighting</a:t>
            </a: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742950" y="1461929"/>
            <a:ext cx="3568303" cy="2971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Implement Synthetic Minority Over-sampling Technique (SMOTE) or apply class weights to penalize misclassification of the minority class (CHD cases)</a:t>
            </a:r>
            <a:endParaRPr lang="en-US" sz="675" dirty="0"/>
          </a:p>
        </p:txBody>
      </p:sp>
      <p:sp>
        <p:nvSpPr>
          <p:cNvPr id="10" name="Shape 7"/>
          <p:cNvSpPr/>
          <p:nvPr/>
        </p:nvSpPr>
        <p:spPr>
          <a:xfrm>
            <a:off x="4661297" y="897238"/>
            <a:ext cx="3911203" cy="1047564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4661297" y="897238"/>
            <a:ext cx="3911203" cy="14288"/>
          </a:xfrm>
          <a:prstGeom prst="rect">
            <a:avLst/>
          </a:prstGeom>
          <a:solidFill>
            <a:srgbClr val="B3E5F0"/>
          </a:solidFill>
        </p:spPr>
      </p:sp>
      <p:sp>
        <p:nvSpPr>
          <p:cNvPr id="12" name="Shape 9"/>
          <p:cNvSpPr/>
          <p:nvPr/>
        </p:nvSpPr>
        <p:spPr>
          <a:xfrm>
            <a:off x="4661297" y="897238"/>
            <a:ext cx="28575" cy="1047564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13" name="Text 10"/>
          <p:cNvSpPr/>
          <p:nvPr/>
        </p:nvSpPr>
        <p:spPr>
          <a:xfrm>
            <a:off x="4832747" y="1068688"/>
            <a:ext cx="356830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kern="0" spc="1" dirty="0">
                <a:solidFill>
                  <a:srgbClr val="00A8CC"/>
                </a:solidFill>
              </a:rPr>
              <a:t>2. Feature Engineering</a:t>
            </a:r>
            <a:endParaRPr lang="en-US" sz="585" dirty="0"/>
          </a:p>
        </p:txBody>
      </p:sp>
      <p:sp>
        <p:nvSpPr>
          <p:cNvPr id="14" name="Text 11"/>
          <p:cNvSpPr/>
          <p:nvPr/>
        </p:nvSpPr>
        <p:spPr>
          <a:xfrm>
            <a:off x="4832747" y="1241924"/>
            <a:ext cx="3568303" cy="1485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003D5B"/>
                </a:solidFill>
              </a:rPr>
              <a:t>Scaling &amp; Normalization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4832747" y="1461929"/>
            <a:ext cx="3568303" cy="2971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Standardize or normalize features to improve model convergence and enhance the algorithm's ability to learn meaningful patterns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571500" y="2109108"/>
            <a:ext cx="3911203" cy="1047564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571500" y="2109108"/>
            <a:ext cx="3911203" cy="14288"/>
          </a:xfrm>
          <a:prstGeom prst="rect">
            <a:avLst/>
          </a:prstGeom>
          <a:solidFill>
            <a:srgbClr val="B3E5F0"/>
          </a:solidFill>
        </p:spPr>
      </p:sp>
      <p:sp>
        <p:nvSpPr>
          <p:cNvPr id="18" name="Shape 15"/>
          <p:cNvSpPr/>
          <p:nvPr/>
        </p:nvSpPr>
        <p:spPr>
          <a:xfrm>
            <a:off x="571500" y="2109108"/>
            <a:ext cx="28575" cy="1047564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19" name="Text 16"/>
          <p:cNvSpPr/>
          <p:nvPr/>
        </p:nvSpPr>
        <p:spPr>
          <a:xfrm>
            <a:off x="742950" y="2280558"/>
            <a:ext cx="356830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kern="0" spc="1" dirty="0">
                <a:solidFill>
                  <a:srgbClr val="00A8CC"/>
                </a:solidFill>
              </a:rPr>
              <a:t>3. Explore Advanced Models</a:t>
            </a:r>
            <a:endParaRPr lang="en-US" sz="585" dirty="0"/>
          </a:p>
        </p:txBody>
      </p:sp>
      <p:sp>
        <p:nvSpPr>
          <p:cNvPr id="20" name="Text 17"/>
          <p:cNvSpPr/>
          <p:nvPr/>
        </p:nvSpPr>
        <p:spPr>
          <a:xfrm>
            <a:off x="742950" y="2453794"/>
            <a:ext cx="3568303" cy="1485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003D5B"/>
                </a:solidFill>
              </a:rPr>
              <a:t>Random Forest &amp; Gradient Boosting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742950" y="2673800"/>
            <a:ext cx="3568303" cy="2971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Test more robust algorithms that may better capture complex relationships and handle class imbalance more effectively</a:t>
            </a:r>
            <a:endParaRPr lang="en-US" sz="675" dirty="0"/>
          </a:p>
        </p:txBody>
      </p:sp>
      <p:sp>
        <p:nvSpPr>
          <p:cNvPr id="22" name="Shape 19"/>
          <p:cNvSpPr/>
          <p:nvPr/>
        </p:nvSpPr>
        <p:spPr>
          <a:xfrm>
            <a:off x="4661297" y="2109108"/>
            <a:ext cx="3911203" cy="1047564"/>
          </a:xfrm>
          <a:prstGeom prst="rect">
            <a:avLst/>
          </a:prstGeom>
          <a:solidFill>
            <a:srgbClr val="00A8CC">
              <a:alpha val="5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4661297" y="2109108"/>
            <a:ext cx="3911203" cy="14288"/>
          </a:xfrm>
          <a:prstGeom prst="rect">
            <a:avLst/>
          </a:prstGeom>
          <a:solidFill>
            <a:srgbClr val="B3E5F0"/>
          </a:solidFill>
        </p:spPr>
      </p:sp>
      <p:sp>
        <p:nvSpPr>
          <p:cNvPr id="24" name="Shape 21"/>
          <p:cNvSpPr/>
          <p:nvPr/>
        </p:nvSpPr>
        <p:spPr>
          <a:xfrm>
            <a:off x="4661297" y="2109108"/>
            <a:ext cx="28575" cy="1047564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25" name="Text 22"/>
          <p:cNvSpPr/>
          <p:nvPr/>
        </p:nvSpPr>
        <p:spPr>
          <a:xfrm>
            <a:off x="4832747" y="2280558"/>
            <a:ext cx="356830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kern="0" spc="1" dirty="0">
                <a:solidFill>
                  <a:srgbClr val="00A8CC"/>
                </a:solidFill>
              </a:rPr>
              <a:t>4. Hyperparameter Tuning</a:t>
            </a:r>
            <a:endParaRPr lang="en-US" sz="585" dirty="0"/>
          </a:p>
        </p:txBody>
      </p:sp>
      <p:sp>
        <p:nvSpPr>
          <p:cNvPr id="26" name="Text 23"/>
          <p:cNvSpPr/>
          <p:nvPr/>
        </p:nvSpPr>
        <p:spPr>
          <a:xfrm>
            <a:off x="4832747" y="2453794"/>
            <a:ext cx="3568303" cy="1485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003D5B"/>
                </a:solidFill>
              </a:rPr>
              <a:t>Grid Search &amp; Cross-Validation</a:t>
            </a:r>
            <a:endParaRPr lang="en-US" sz="785" dirty="0"/>
          </a:p>
        </p:txBody>
      </p:sp>
      <p:sp>
        <p:nvSpPr>
          <p:cNvPr id="27" name="Text 24"/>
          <p:cNvSpPr/>
          <p:nvPr/>
        </p:nvSpPr>
        <p:spPr>
          <a:xfrm>
            <a:off x="4832747" y="2673800"/>
            <a:ext cx="3568303" cy="2971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Systematically optimize model parameters and use cross-validation to ensure robust performance across different data subsets</a:t>
            </a:r>
            <a:endParaRPr lang="en-US" sz="675" dirty="0"/>
          </a:p>
        </p:txBody>
      </p:sp>
      <p:sp>
        <p:nvSpPr>
          <p:cNvPr id="28" name="Shape 25"/>
          <p:cNvSpPr/>
          <p:nvPr/>
        </p:nvSpPr>
        <p:spPr>
          <a:xfrm>
            <a:off x="571500" y="3392416"/>
            <a:ext cx="8001000" cy="762595"/>
          </a:xfrm>
          <a:prstGeom prst="rect">
            <a:avLst/>
          </a:prstGeom>
          <a:solidFill>
            <a:srgbClr val="00A8CC">
              <a:alpha val="8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571500" y="3392416"/>
            <a:ext cx="8001000" cy="14288"/>
          </a:xfrm>
          <a:prstGeom prst="rect">
            <a:avLst/>
          </a:prstGeom>
          <a:solidFill>
            <a:srgbClr val="B3E5F0"/>
          </a:solidFill>
        </p:spPr>
      </p:sp>
      <p:sp>
        <p:nvSpPr>
          <p:cNvPr id="30" name="Shape 27"/>
          <p:cNvSpPr/>
          <p:nvPr/>
        </p:nvSpPr>
        <p:spPr>
          <a:xfrm>
            <a:off x="571500" y="3392416"/>
            <a:ext cx="28575" cy="762595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31" name="Text 28"/>
          <p:cNvSpPr/>
          <p:nvPr/>
        </p:nvSpPr>
        <p:spPr>
          <a:xfrm>
            <a:off x="714375" y="3535291"/>
            <a:ext cx="771525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00A8CC"/>
                </a:solidFill>
              </a:rPr>
              <a:t>Implementation Priority</a:t>
            </a:r>
            <a:endParaRPr lang="en-US" sz="635" dirty="0"/>
          </a:p>
        </p:txBody>
      </p:sp>
      <p:sp>
        <p:nvSpPr>
          <p:cNvPr id="32" name="Text 29"/>
          <p:cNvSpPr/>
          <p:nvPr/>
        </p:nvSpPr>
        <p:spPr>
          <a:xfrm>
            <a:off x="714375" y="3719243"/>
            <a:ext cx="7715250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5" dirty="0">
                <a:solidFill>
                  <a:srgbClr val="2C3E50"/>
                </a:solidFill>
              </a:rPr>
              <a:t>Recommendations 1 and 2 should be prioritized first, as addressing class imbalance and improving feature preprocessing are foundational steps that will likely yield the most significant improvements in model recall and clinical viability.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4344</Words>
  <Application>WPS Presentation</Application>
  <PresentationFormat>On-screen Show (16:9)</PresentationFormat>
  <Paragraphs>253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Algerian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WPS_1707062832</cp:lastModifiedBy>
  <cp:revision>2</cp:revision>
  <dcterms:created xsi:type="dcterms:W3CDTF">2025-11-15T16:30:00Z</dcterms:created>
  <dcterms:modified xsi:type="dcterms:W3CDTF">2025-11-15T16:38:50Z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2B4199859261466A8CBD0DF8EC2B0E25_12</vt:lpwstr>
  </property>
  <property fmtid="{D5CDD505-2E9C-101B-9397-08002B2CF9AE}" pid="3" name="KSOProductBuildVer">
    <vt:lpwstr>1033-12.2.0.23155</vt:lpwstr>
  </property>
</Properties>
</file>